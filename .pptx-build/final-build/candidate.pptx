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76d8189814492d" /><Relationship Type="http://schemas.openxmlformats.org/officeDocument/2006/relationships/extended-properties" Target="/docProps/app.xml" Id="R2ccda8c7682d4433" /><Relationship Type="http://schemas.openxmlformats.org/officeDocument/2006/relationships/officeDocument" Target="/ppt/presentation.xml" Id="R4d0ef6700b0d4d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4642777904c1d"/>
  </p:sldMasterIdLst>
  <p:notesMasterIdLst>
    <p:notesMasterId xmlns:r="http://schemas.openxmlformats.org/officeDocument/2006/relationships" r:id="Re841b4678c6f4317"/>
  </p:notesMasterIdLst>
  <p:sldIdLst>
    <p:sldId xmlns:r="http://schemas.openxmlformats.org/officeDocument/2006/relationships" id="256" r:id="Rbd989417b3d542c8"/>
    <p:sldId xmlns:r="http://schemas.openxmlformats.org/officeDocument/2006/relationships" id="257" r:id="R8300a40186da4dac"/>
    <p:sldId xmlns:r="http://schemas.openxmlformats.org/officeDocument/2006/relationships" id="258" r:id="Re22c692de286438a"/>
    <p:sldId xmlns:r="http://schemas.openxmlformats.org/officeDocument/2006/relationships" id="259" r:id="R22a5547ab90c451a"/>
    <p:sldId xmlns:r="http://schemas.openxmlformats.org/officeDocument/2006/relationships" id="260" r:id="Ra01cad04fee94c92"/>
    <p:sldId xmlns:r="http://schemas.openxmlformats.org/officeDocument/2006/relationships" id="261" r:id="Rb5c1f4bef3194b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e6b41e89994d71" /><Relationship Type="http://schemas.openxmlformats.org/officeDocument/2006/relationships/slideMaster" Target="/ppt/slideMasters/slideMaster1.xml" Id="Rbd24642777904c1d" /><Relationship Type="http://schemas.openxmlformats.org/officeDocument/2006/relationships/notesMaster" Target="/ppt/notesMasters/notesMaster1.xml" Id="Re841b4678c6f4317" /><Relationship Type="http://schemas.openxmlformats.org/officeDocument/2006/relationships/presProps" Target="/ppt/presProps.xml" Id="R766748757cae4e2e" /><Relationship Type="http://schemas.openxmlformats.org/officeDocument/2006/relationships/viewProps" Target="/ppt/viewProps.xml" Id="R87e2a489eb7e4d11" /><Relationship Type="http://schemas.openxmlformats.org/officeDocument/2006/relationships/tableStyles" Target="/ppt/tableStyles.xml" Id="R52a1a982217944df" /><Relationship Type="http://schemas.openxmlformats.org/officeDocument/2006/relationships/slide" Target="/ppt/slides/slide1.xml" Id="Rbd989417b3d542c8" /><Relationship Type="http://schemas.openxmlformats.org/officeDocument/2006/relationships/slide" Target="/ppt/slides/slide2.xml" Id="R8300a40186da4dac" /><Relationship Type="http://schemas.openxmlformats.org/officeDocument/2006/relationships/slide" Target="/ppt/slides/slide3.xml" Id="Re22c692de286438a" /><Relationship Type="http://schemas.openxmlformats.org/officeDocument/2006/relationships/slide" Target="/ppt/slides/slide4.xml" Id="R22a5547ab90c451a" /><Relationship Type="http://schemas.openxmlformats.org/officeDocument/2006/relationships/slide" Target="/ppt/slides/slide5.xml" Id="Ra01cad04fee94c92" /><Relationship Type="http://schemas.openxmlformats.org/officeDocument/2006/relationships/slide" Target="/ppt/slides/slide6.xml" Id="Rb5c1f4bef3194b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6d7bc365d44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e113b83d7545fd" /><Relationship Type="http://schemas.openxmlformats.org/officeDocument/2006/relationships/notesMaster" Target="/ppt/notesMasters/notesMaster1.xml" Id="R6ab1a51dcddd4f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ca91fc54b44cd" /><Relationship Type="http://schemas.openxmlformats.org/officeDocument/2006/relationships/notesMaster" Target="/ppt/notesMasters/notesMaster1.xml" Id="R5fbec2661e3f49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8e3235b9f745de" /><Relationship Type="http://schemas.openxmlformats.org/officeDocument/2006/relationships/notesMaster" Target="/ppt/notesMasters/notesMaster1.xml" Id="R345f4d6ad19943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a89f34624e4183" /><Relationship Type="http://schemas.openxmlformats.org/officeDocument/2006/relationships/notesMaster" Target="/ppt/notesMasters/notesMaster1.xml" Id="Rd12d8c4f0ad546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62017d82c7495d" /><Relationship Type="http://schemas.openxmlformats.org/officeDocument/2006/relationships/notesMaster" Target="/ppt/notesMasters/notesMaster1.xml" Id="R27a546cf6a5946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9c2b3e89d049b9" /><Relationship Type="http://schemas.openxmlformats.org/officeDocument/2006/relationships/notesMaster" Target="/ppt/notesMasters/notesMaster1.xml" Id="R7cc595fbcfd24a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Describe the system as semantic retrieval and recommendation, not a generative chatbot. Emphasize human verification and decision support.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Hybrid mode is the measured default. Only embedding mode uses all-MiniLM-L6-v2; hybrid uses keyword scoring plus local similarity features.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Metrics shown are controlled/synthetic held-out evaluation results from 375 test queries. They do not represent general real-world tender accuracy.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External references: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https://www.bis.gov.in/know-your-standard/?lang=en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https://www.sbert.net/docs/sentence_transformer/pretrained_models.html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https://fastapi.tiangolo.com/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https://docs.python.org/3/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https://www.sqlite.org/docs.html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https://docs.docker.com/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Project evidence: data/README.md, data/retrieval_quality.json, tests/, PROJECT_CONTEXT.md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23981aae74c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98444d63947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74227dc0b47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d099d77634c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e2c7f647944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119ef86014db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8fd5b6a224a8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b77a0c01a421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4ee9d30484b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c22a52a62404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87a42046e47e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25536C-6FEB-46BA-BB1B-934933C0541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D7966A1-733F-4CEC-94E2-ABC360E35B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339CEE-ED24-4CC6-AC1F-EB9E57CF32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5319D8C-7938-43FC-90CF-530396591E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A56591-9F2B-4D31-B8FB-B6DE0C33D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FD505B-32A4-4DFC-9529-299B7C8368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3CED3A-36AC-47C3-A18B-FC7E0B3807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3586A5-3B03-41C9-8FFA-1788A5F5B6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9D0C04-E23C-444F-9DC3-406C749F83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4EA61E-0104-41B8-8010-17D23698FC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92629-F8DD-4150-89B2-8F84A28110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61981-EA48-4F3A-8F82-6D97500A4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E78F39-A95A-4353-A140-C7DF80BCC6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1B4301-13EF-4550-B6F6-4DFBB21E10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10B41A-846A-4E91-9444-5F42A09324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66A71F-04D4-4A34-9B5F-FE55E29690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6DBBC8-C208-497C-A532-47F9067F11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42CAF22-F151-4CEC-B896-74AE4C1DA3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C6F654-4A19-41D6-BA1A-E28F7A91B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9/30/2026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4F06D2-D3E3-4336-BE95-C62AFEBAB3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A93EB9-2333-4CD8-B556-0AFC2707D5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508E2A-C854-46F1-AE5F-DAC9E8EC7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0F4FE3-E269-4C9D-B2DB-A06A8CE131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A65127-B2DF-4F91-8007-ABD6B183690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97E008D-C0AF-4F68-AD8C-8D3E5B5F8AE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75D9649-1B45-4881-94D1-A1FC54A711B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B56D2A-AA44-444A-9126-98ECCFCAB5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9/30/2026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EDE5AE-A81D-4BEE-B78B-8D616AB2B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E1569-EC35-481B-9FA2-68E1ACFB80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A2ACF9-2EAA-4F64-AEF3-3B4A1F7FC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D6744F-714F-449E-8507-B00234E068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9/30/2026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A1EB92-B89B-481D-BDB8-CA33B4C5CF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AC4AEB-F744-456A-9B20-9F13CC77C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1458F0-3389-4577-A7AB-868CBACB40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9/30/2026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B42F19-5855-4BDB-B646-560FAD7987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6F92D6-16BB-4B9F-84AA-4043ACB3E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5C8148-F316-4619-A05F-2547E13AD1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A7475A4-2336-4CFF-A721-58246C6ABA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592F7D-D998-4C4C-9032-84202CD018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B0FCA8-B99C-4DB3-B708-024102E33E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9/30/2026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A710E5-D894-4FD0-9158-06A9A6C181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0C5BD1-9FA7-49FF-A0D5-B37B9E715C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126787-7B34-452F-A5B5-F6591B02E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C5B400-640A-4E20-BC9A-017A674C503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7676F14-C599-4684-86B0-24CBB80822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7A9C93-291D-4D88-90B7-9BE6C96E38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9/30/2026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FD3945-3AAF-4EC7-A836-9B424928FE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B28F64-9A9A-436E-953F-37382C4CC4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3830AB-3B50-421C-8C4C-28796C397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07AEC3-FF3E-4BFC-9FBE-ACF251F9E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44ED0A-33F6-46F0-90F1-54E55EF231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8894F7-BEE0-45C0-86B3-C74FC1DCBC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A1B5E1-1D6F-4994-A87A-23E51E0335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33884E-E34E-44AA-A41F-34F1212801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C71ECB-8808-4E24-950C-2F50AB1F44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8F9C02-8AB4-4D11-BBFA-0463D7A24D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A8591B-032E-44B6-94DE-0B4BCDACE9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53B53-B390-4552-A031-A0021B63AF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1d85ce842a4781" /><Relationship Type="http://schemas.openxmlformats.org/officeDocument/2006/relationships/slideLayout" Target="/ppt/slideLayouts/slideLayout1.xml" Id="R9de364e3eea2409a" /><Relationship Type="http://schemas.openxmlformats.org/officeDocument/2006/relationships/slideLayout" Target="/ppt/slideLayouts/slideLayout2.xml" Id="R3d05862b51f3417f" /><Relationship Type="http://schemas.openxmlformats.org/officeDocument/2006/relationships/slideLayout" Target="/ppt/slideLayouts/slideLayout3.xml" Id="Rebe57e290fac4b37" /><Relationship Type="http://schemas.openxmlformats.org/officeDocument/2006/relationships/slideLayout" Target="/ppt/slideLayouts/slideLayout4.xml" Id="R65946ee4a9644374" /><Relationship Type="http://schemas.openxmlformats.org/officeDocument/2006/relationships/slideLayout" Target="/ppt/slideLayouts/slideLayout5.xml" Id="R623a3a6d66634796" /><Relationship Type="http://schemas.openxmlformats.org/officeDocument/2006/relationships/slideLayout" Target="/ppt/slideLayouts/slideLayout6.xml" Id="R9b8424b0b0f54d54" /><Relationship Type="http://schemas.openxmlformats.org/officeDocument/2006/relationships/slideLayout" Target="/ppt/slideLayouts/slideLayout7.xml" Id="Rc2df0a3b32b448d8" /><Relationship Type="http://schemas.openxmlformats.org/officeDocument/2006/relationships/slideLayout" Target="/ppt/slideLayouts/slideLayout8.xml" Id="R710e4b1d527d4ddd" /><Relationship Type="http://schemas.openxmlformats.org/officeDocument/2006/relationships/slideLayout" Target="/ppt/slideLayouts/slideLayout9.xml" Id="R119caf24720a4586" /><Relationship Type="http://schemas.openxmlformats.org/officeDocument/2006/relationships/slideLayout" Target="/ppt/slideLayouts/slideLayout10.xml" Id="R85ab2115057448c1" /><Relationship Type="http://schemas.openxmlformats.org/officeDocument/2006/relationships/slideLayout" Target="/ppt/slideLayouts/slideLayout11.xml" Id="Re26e3ad995444af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787AB71-E624-4C9C-BC80-5B0514A31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0FB9EA-5922-436E-8EA3-1A8A00637E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84F0B-F418-4D14-956E-D36C4A30149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9/30/2026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F75732-0ACC-4B49-9750-8B0AD2BC61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281CB2-2758-47B9-9AC6-F1DD393AE41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e364e3eea2409a"/>
    <p:sldLayoutId xmlns:r="http://schemas.openxmlformats.org/officeDocument/2006/relationships" id="2147483650" r:id="R3d05862b51f3417f"/>
    <p:sldLayoutId xmlns:r="http://schemas.openxmlformats.org/officeDocument/2006/relationships" id="2147483651" r:id="Rebe57e290fac4b37"/>
    <p:sldLayoutId xmlns:r="http://schemas.openxmlformats.org/officeDocument/2006/relationships" id="2147483652" r:id="R65946ee4a9644374"/>
    <p:sldLayoutId xmlns:r="http://schemas.openxmlformats.org/officeDocument/2006/relationships" id="2147483653" r:id="R623a3a6d66634796"/>
    <p:sldLayoutId xmlns:r="http://schemas.openxmlformats.org/officeDocument/2006/relationships" id="2147483654" r:id="R9b8424b0b0f54d54"/>
    <p:sldLayoutId xmlns:r="http://schemas.openxmlformats.org/officeDocument/2006/relationships" id="2147483655" r:id="Rc2df0a3b32b448d8"/>
    <p:sldLayoutId xmlns:r="http://schemas.openxmlformats.org/officeDocument/2006/relationships" id="2147483656" r:id="R710e4b1d527d4ddd"/>
    <p:sldLayoutId xmlns:r="http://schemas.openxmlformats.org/officeDocument/2006/relationships" id="2147483657" r:id="R119caf24720a4586"/>
    <p:sldLayoutId xmlns:r="http://schemas.openxmlformats.org/officeDocument/2006/relationships" id="2147483658" r:id="R85ab2115057448c1"/>
    <p:sldLayoutId xmlns:r="http://schemas.openxmlformats.org/officeDocument/2006/relationships" id="2147483659" r:id="Re26e3ad995444af6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c4db8ab58477f" /><Relationship Type="http://schemas.openxmlformats.org/officeDocument/2006/relationships/image" Target="/ppt/media/image.png" Id="R4d01e7e0292147b2" /><Relationship Type="http://schemas.openxmlformats.org/officeDocument/2006/relationships/image" Target="/ppt/media/image2.png" Id="Ra400c1705cbb4cb9" /><Relationship Type="http://schemas.openxmlformats.org/officeDocument/2006/relationships/notesSlide" Target="/ppt/notesSlides/notesSlide1.xml" Id="R258cd56f259f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51bac642d4e84" /><Relationship Type="http://schemas.openxmlformats.org/officeDocument/2006/relationships/image" Target="/ppt/media/image2.png" Id="Rc3c6a99ff8064320" /><Relationship Type="http://schemas.openxmlformats.org/officeDocument/2006/relationships/notesSlide" Target="/ppt/notesSlides/notesSlide2.xml" Id="R5782f40b68cc47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a8426bbb424b14" /><Relationship Type="http://schemas.openxmlformats.org/officeDocument/2006/relationships/image" Target="/ppt/media/image2.png" Id="R1d6bb01b23c2404d" /><Relationship Type="http://schemas.openxmlformats.org/officeDocument/2006/relationships/notesSlide" Target="/ppt/notesSlides/notesSlide3.xml" Id="R16f572bee7a846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864ed32e694a9a" /><Relationship Type="http://schemas.openxmlformats.org/officeDocument/2006/relationships/image" Target="/ppt/media/image2.png" Id="Rdaeb8905180647d0" /><Relationship Type="http://schemas.openxmlformats.org/officeDocument/2006/relationships/notesSlide" Target="/ppt/notesSlides/notesSlide4.xml" Id="R1005f542734e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98cb1291146e3" /><Relationship Type="http://schemas.openxmlformats.org/officeDocument/2006/relationships/image" Target="/ppt/media/image2.png" Id="R35083858fea54a80" /><Relationship Type="http://schemas.openxmlformats.org/officeDocument/2006/relationships/notesSlide" Target="/ppt/notesSlides/notesSlide5.xml" Id="R11ae505cacd441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b4b51a4514f13" /><Relationship Type="http://schemas.openxmlformats.org/officeDocument/2006/relationships/image" Target="/ppt/media/image2.png" Id="R2bfc2c86d23a4db6" /><Relationship Type="http://schemas.openxmlformats.org/officeDocument/2006/relationships/notesSlide" Target="/ppt/notesSlides/notesSlide6.xml" Id="R1aaa12505ac545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01e7e0292147b2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95B12A4D-C435-4F76-B17D-5A4EE02D02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764E4A16-C20B-44C6-B36A-A5C54006603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F9320E-4026-4FB8-BD58-D862154A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191250" cy="475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38100" rIns="57150" bIns="3810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Problem Statement ID - </a:t>
            </a:r>
            <a:r>
              <a:rPr sz="1275">
                <a:solidFill>
                  <a:srgbClr val="202B38"/>
                </a:solidFill>
                <a:latin typeface="Arial"/>
                <a:ea typeface="Arial"/>
                <a:cs typeface="Arial"/>
              </a:rPr>
              <a:t>[PROBLEM STATEMENT ID]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250"/>
              </a:spcAft>
              <a:buNone/>
              <a:defRPr sz="127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Problem Statement Title -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B38"/>
                </a:solidFill>
                <a:latin typeface="Arial"/>
                <a:ea typeface="Arial"/>
                <a:cs typeface="Arial"/>
              </a:rPr>
              <a:t>AI-Powered Recommendation Engine for Identifying Applicable Indian Standards for Procurement Specifications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Theme - </a:t>
            </a:r>
            <a:r>
              <a:rPr sz="1275">
                <a:solidFill>
                  <a:srgbClr val="202B38"/>
                </a:solidFill>
                <a:latin typeface="Arial"/>
                <a:ea typeface="Arial"/>
                <a:cs typeface="Arial"/>
              </a:rPr>
              <a:t>[THEME]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PS Category - </a:t>
            </a:r>
            <a:r>
              <a:rPr sz="1275">
                <a:solidFill>
                  <a:srgbClr val="202B38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900"/>
              </a:spcAft>
              <a:buNone/>
              <a:defRPr sz="127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Team ID - </a:t>
            </a:r>
            <a:r>
              <a:rPr sz="1275">
                <a:solidFill>
                  <a:srgbClr val="202B38"/>
                </a:solidFill>
                <a:latin typeface="Arial"/>
                <a:ea typeface="Arial"/>
                <a:cs typeface="Arial"/>
              </a:rPr>
              <a:t>[TEAM ID]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Team Name (Registered on portal) - </a:t>
            </a:r>
            <a:r>
              <a:rPr sz="1275">
                <a:solidFill>
                  <a:srgbClr val="202B38"/>
                </a:solidFill>
                <a:latin typeface="Arial"/>
                <a:ea typeface="Arial"/>
                <a:cs typeface="Arial"/>
              </a:rPr>
              <a:t>[TEAM NAME]</a:t>
            </a: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0c1705cbb4c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147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B2ECFE22-F39A-4B44-A474-39BF34C6C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IDEA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D68FF-F776-43AC-8D3E-4D6A67B3F9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BB419F0-3ADB-41A3-9307-BC17BD282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[TEAM NAME]</a:t>
            </a:r>
            <a:endParaRPr/>
          </a:p>
        </p:txBody>
      </p:sp>
      <p:pic>
        <p:nvPicPr>
          <p:cNvPr id="1539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6a99ff80643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D14BC854-0DF7-4ADD-BDB9-2ECA4CF2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111442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  <p:txBody>
          <a:bodyPr xmlns:a="http://schemas.openxmlformats.org/drawingml/2006/main" lIns="142875" tIns="95250" rIns="1428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B38"/>
                </a:solidFill>
                <a:latin typeface="Arial"/>
                <a:ea typeface="Arial"/>
                <a:cs typeface="Arial"/>
              </a:rPr>
              <a:t>Procurement specifications often combine several technical requirements. Finding potentially applicable Indian Standards is slow, terminology-dependent, and difficult to audit.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CE956C29-437A-479E-9ADC-E15853B0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Procurement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27D45252-A025-4408-87E1-5C4A18D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52675"/>
            <a:ext cx="1047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01F338F0-01CE-4D71-90B9-B393628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Text / document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219F11D7-3B70-4D30-8D4C-EB17A17C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52675"/>
            <a:ext cx="1047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F3FD9049-28E8-400A-BE27-628E2FD8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Clause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66166636-E6AB-4148-958E-1CE8E7B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52675"/>
            <a:ext cx="1047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657E1661-5944-4429-A7A0-EC6A3FDE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Keyword + semantic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5472507E-BB1B-49A9-88CD-45352639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352675"/>
            <a:ext cx="1047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492263EE-8A3B-43D7-AA08-CEE0EE3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Ranked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standards</a:t>
            </a:r>
          </a:p>
        </p:txBody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8C4217A1-1E85-4D5E-B7B2-580F1BDE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52675"/>
            <a:ext cx="1047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8CB95E58-82CB-4290-9437-E71E866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Evidence +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explanation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0F0FADB7-398A-486D-B689-7EE589C2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047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3383B33B-3955-4C2E-ADC6-72A221EA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Human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8688A45A-7AA8-44EB-B821-9A6E68FF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52675"/>
            <a:ext cx="1047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E2AE60CE-1955-4F27-8529-08E1C3AA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076450"/>
            <a:ext cx="12858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PDF / CSV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D64C23EE-1E68-42A4-82F5-2EDAF9CB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D2C90920-4DA8-413F-A16C-5C5E8B6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DC96089E-25E9-4569-9A36-C583FEBD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Accepts typed requirements and TXT, PDF, or DOCX files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Splits documents into clauses before matching standards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Ranks candidates using lexical and semantic relevance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Returns evidence for a reviewer before export</a:t>
            </a:r>
          </a:p>
        </p:txBody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A822C92C-F8C4-4F89-A35E-F417A6E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INNOVATION AND UNIQUENESS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DF8DE715-3643-48EB-A4EE-5DE4C2A9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04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</a:ln>
        </p:spPr>
      </p:sp>
      <p:sp>
        <p:nvSpPr>
          <p:cNvPr id="15385" name="">
            <a:extLst xmlns:a="http://schemas.openxmlformats.org/drawingml/2006/main">
              <a:ext uri="{FF2B5EF4-FFF2-40B4-BE49-F238E27FC236}">
                <a16:creationId xmlns:a16="http://schemas.microsoft.com/office/drawing/2014/main" id="{D997ED18-8BA4-4808-A590-7729BC34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Clause-level procurement analysis across multiple requirements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Keyword, local hybrid, and transformer embedding retrieval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Evidence-backed results with verification status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700"/>
              </a:spcAft>
              <a:buNone/>
              <a:defRPr sz="1163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63">
                <a:solidFill>
                  <a:srgbClr val="202B38"/>
                </a:solidFill>
                <a:latin typeface="Arial"/>
                <a:ea typeface="Arial"/>
                <a:cs typeface="Arial"/>
              </a:rPr>
              <a:t>Human review, feedback, audit history, and quality monitoring</a:t>
            </a:r>
          </a:p>
        </p:txBody>
      </p:sp>
      <p:sp>
        <p:nvSpPr>
          <p:cNvPr id="15386" name="">
            <a:extLst xmlns:a="http://schemas.openxmlformats.org/drawingml/2006/main">
              <a:ext uri="{FF2B5EF4-FFF2-40B4-BE49-F238E27FC236}">
                <a16:creationId xmlns:a16="http://schemas.microsoft.com/office/drawing/2014/main" id="{B972E8E6-BAC6-4EF4-B2EA-7E97331E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Decision support for technical review. The system does not make a legal determination of applicability.</a:t>
            </a:r>
          </a:p>
        </p:txBody>
      </p:sp>
    </p:spTree>
    <p:extLst>
      <p:ext uri="{BB962C8B-B14F-4D97-AF65-F5344CB8AC3E}">
        <p14:creationId xmlns:p14="http://schemas.microsoft.com/office/powerpoint/2010/main" val="11804129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D9E6EEF-4B27-4D4A-A7F9-E002EACD6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9BEE75-4944-49E9-9C41-69CC2ED7E2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9B97FDA-24B4-49C2-8AC3-0AD69294B5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[TEAM NAME]</a:t>
            </a:r>
            <a:endParaRPr/>
          </a:p>
        </p:txBody>
      </p:sp>
      <p:pic>
        <p:nvPicPr>
          <p:cNvPr id="1744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bb01b23c240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DEE3D4E8-39E4-4A75-86D2-AAF37AB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9526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USER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Procurement / reviewer / admin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8C75E032-9EA5-4BE8-8DC3-79F54F1A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5049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6EF5D5E8-6B82-4254-9CE3-970BA118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57300"/>
            <a:ext cx="19526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WEB FRONTEND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HTML, CSS, JavaScript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6CAE956B-6D17-4448-A6ED-39147099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3B4ADACB-F223-48A3-9A82-7051C4A5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57300"/>
            <a:ext cx="19526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FASTAPI BACKEND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Authentication + API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DE8BC281-CCE0-40C3-9E47-C07B0FE0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049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AE3FB764-3F0A-4863-87CE-B8868FBE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257300"/>
            <a:ext cx="19526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DOCUMENT PROCESSING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TXT, PDF, DOCX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A1FC49E8-945B-471E-B312-0BFEBCC3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049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744B51D6-8F79-412B-923D-A2D3022E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57300"/>
            <a:ext cx="195262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CLAUSE ANALYSIS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Split + aggregate evidence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94081CE7-9FFD-4300-A77C-A95F87AE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09775"/>
            <a:ext cx="2095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A9B69C56-0CC1-4629-8483-75484F6F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0439400" cy="165735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1F497D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BC9C8C92-DC6F-473F-9C5D-0A3C3698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1009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RECOMMENDATION ENGINE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D92FBB75-F641-4FF8-96CF-17FFD626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3048000" cy="8667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KEYWORD RETRIEVAL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Weighted title, keywords, related terms, examples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3690D2B7-05D4-481E-8160-F5F342C3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3048000" cy="8667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Keyword score + local similarity features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58382738-D301-47BF-AABB-131A55FF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3048000" cy="8667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TRANSFORMER EMBEDDINGS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all-MiniLM-L6-v2 semantic similarity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381D7D4A-88BB-4F17-97C8-B630B6E0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048125"/>
            <a:ext cx="20955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23278BD1-4345-4E30-B5FF-D24180DF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29527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RANKING + EVIDENCE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D3D0E267-CFC6-4AB7-AB96-5E981E11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01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44A0D945-1E0C-46EE-84F9-0EDB364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10075"/>
            <a:ext cx="29527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HUMAN REVIEW / VERIFICATION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C23DB221-B83B-4C30-9C97-C7DAE71B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01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21585636-0663-48F1-A26C-6F2D713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0075"/>
            <a:ext cx="29527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SQLITE + PDF / CSV REPORTS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DA38C219-3490-4E86-AFB6-FB310DEB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816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IMPLEMENTED STACK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905C5CC5-DAFF-4B03-A67E-2B647E83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957262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lIns="114300" tIns="76200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202B38"/>
                </a:solidFill>
                <a:latin typeface="Arial"/>
                <a:ea typeface="Arial"/>
                <a:cs typeface="Arial"/>
              </a:rPr>
              <a:t>Python  |  FastAPI  |  HTML / CSS / JavaScript  |  SQLite  |  Sentence Transformers  |  Docker Compose  |  Automated tests  |  JSON logs + metrics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55406FF3-3FD1-417D-97E3-B9DA532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29300"/>
            <a:ext cx="819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INPUT  &gt;  EXTRACT  &gt;  ANALYSE  &gt;  RETRIEVE  &gt;  RANK  &gt;  EXPLAIN  &gt;  VERIFY  &gt;  REPORT</a:t>
            </a:r>
          </a:p>
        </p:txBody>
      </p:sp>
    </p:spTree>
    <p:extLst>
      <p:ext uri="{BB962C8B-B14F-4D97-AF65-F5344CB8AC3E}">
        <p14:creationId xmlns:p14="http://schemas.microsoft.com/office/powerpoint/2010/main" val="4984842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EDB912E-DD9E-46A0-A4BA-20906E50B3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F4C6BA-E51B-4B8F-8077-E69833E517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2AF1B65-0051-41D5-A0F5-181713585F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[TEAM NAME]</a:t>
            </a:r>
            <a:endParaRPr/>
          </a:p>
        </p:txBody>
      </p:sp>
      <p:pic>
        <p:nvPicPr>
          <p:cNvPr id="1744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b8905180647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5AD7225-8582-4741-BC7E-D58FA87D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895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CONTROLLED / SYNTHETIC HELD-OUT EVALUATION RESULTS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35415EA2-B825-4CA0-ADA3-F3085A9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33475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6636EED6-87E5-4509-BCC8-ADE1E0FE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200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91.5%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580E05BF-2AEB-4131-A690-22E1B6ED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50495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6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Top-1 accuracy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B77919EA-ECF0-4990-A1CF-7F9F163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133475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2D5A89F-0A8C-4880-8B4D-9C4A62DF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200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97.3%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46DD6DA3-2C63-4250-B6CA-8E0E5917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04950"/>
            <a:ext cx="148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6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Top-5 accuracy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98F66C5D-C307-4FA9-84F1-0E2BE532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133475"/>
            <a:ext cx="1714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63B543DB-2E8A-4298-A8A7-F946D5DD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200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0.943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A359DD4F-9E4C-4BC8-82D2-BD3B3FA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504950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6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Mean reciprocal rank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446BF804-8530-43EB-9C7D-E839CE4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133475"/>
            <a:ext cx="2190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9D6E101E-5C62-4893-833D-190632DB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200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C9A1FBB3-B65C-4D15-9C22-25B6FDB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049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6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89A146EF-703A-43BB-8E79-0B18D96F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638550" cy="3857625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3335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6953A44A-5245-4CFC-9271-09EAD67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CURRENT IMPLEMENTATION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A17F37A1-5B87-43C1-8897-C85F9BA1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325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2740A80A-F17F-4EF6-B949-F5A04BA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2194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Working FastAPI web prototype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Text and multi-format document input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Three retrieval strategies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SQLite persistence and role workflows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Automated tests and evaluation pipeline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Docker, health, logging, metrics, backups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E383D26B-3C45-4EE4-A241-EA3CEB7F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95500"/>
            <a:ext cx="3638550" cy="3857625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13335">
            <a:solidFill>
              <a:srgbClr val="B5493A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C4242226-5A4E-4F59-8D70-82DBD746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574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B54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493A"/>
                </a:solidFill>
                <a:latin typeface="Arial"/>
                <a:ea typeface="Arial"/>
                <a:cs typeface="Arial"/>
              </a:rPr>
              <a:t>CHALLENGES AND RISKS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76BEBB18-C984-4FEF-B84B-FEC5CDF8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76525"/>
            <a:ext cx="325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93A"/>
          </a:solidFill>
          <a:ln xmlns:a="http://schemas.openxmlformats.org/drawingml/2006/main" w="0">
            <a:noFill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505475AF-A1E2-4A25-ACA5-8C2832F3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57500"/>
            <a:ext cx="32194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Catalogue still needs authoritative verification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Real specifications vary in structure and vocabulary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Ambiguous domain terminology can create false positives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Standards, revisions, and mandates change over time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Synthetic evaluation does not prove field performance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Production scale requires stronger infrastructure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98CD6A47-7DEE-4C94-B742-FA76F3F8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638550" cy="3857625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335">
            <a:solidFill>
              <a:srgbClr val="1F497D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74F80F3B-5092-4BE2-9951-7B4A075E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574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MITIGATION AND NEXT STEPS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1034C326-E765-4784-8E3D-8F00F319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6525"/>
            <a:ext cx="3257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09B2D94A-ED9C-4407-9DE9-1E282769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2194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Human review before procurement decisions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Evidence, source status, and audit history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Feedback collection and continuous evaluation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Periodic BIS and government source updates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Validation on genuine procurement documents</a:t>
            </a:r>
          </a:p>
          <a:p xmlns:a="http://schemas.openxmlformats.org/drawingml/2006/main">
            <a:pPr marL="203200" indent="-114300">
              <a:lnSpc>
                <a:spcPct val="102000"/>
              </a:lnSpc>
              <a:spcAft>
                <a:spcPts val="800"/>
              </a:spcAft>
              <a:buNone/>
              <a:defRPr sz="1065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65">
                <a:solidFill>
                  <a:srgbClr val="202B38"/>
                </a:solidFill>
                <a:latin typeface="Arial"/>
                <a:ea typeface="Arial"/>
                <a:cs typeface="Arial"/>
              </a:rPr>
              <a:t>HTTPS, off-host backups, and monitored deployment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C0595A6-B363-4330-8275-856423D1F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27592-85C6-48E3-BB98-F3F03ADDD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291385-36C1-44FD-A801-33E174823E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[TEAM NAME]</a:t>
            </a:r>
            <a:endParaRPr/>
          </a:p>
        </p:txBody>
      </p:sp>
      <p:pic>
        <p:nvPicPr>
          <p:cNvPr id="17455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83858fea54a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7F0EE753-36CA-476D-B0F9-ADFAB423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5C4A6F80-CF2A-46F9-9EA6-736E2EB8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152525"/>
            <a:ext cx="15240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Procurement teams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4E089CA-54C6-474C-88F2-8D90F56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152525"/>
            <a:ext cx="15240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Government departments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5BA75467-371D-4A79-B90E-1064214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52525"/>
            <a:ext cx="15240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Reviewers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14F8D993-7731-49BE-8337-6250D23E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152525"/>
            <a:ext cx="15240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Compliance teams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AB72D6A4-A989-4617-89DC-DD11B9B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52525"/>
            <a:ext cx="15240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Technical evaluators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FB7DB99A-2283-497F-8D9C-CFC115C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152525"/>
            <a:ext cx="15240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Specification authors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6B35B5E8-2D2C-481B-9A89-7C6B860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B549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493A"/>
                </a:solidFill>
                <a:latin typeface="Arial"/>
                <a:ea typeface="Arial"/>
                <a:cs typeface="Arial"/>
              </a:rPr>
              <a:t>CURRENT MANUAL PROCESS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AAED0A8F-D5A2-42B2-8885-B289954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93A"/>
          </a:solidFill>
          <a:ln xmlns:a="http://schemas.openxmlformats.org/drawingml/2006/main" w="0">
            <a:noFill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CD073AD3-13A9-44B7-9598-73C7AAD7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19275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PROPOSED WORKFLOW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C77216CE-8EEB-4711-94E4-D91B39A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77D78E42-A720-43E8-B213-30E0DA0F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11430">
            <a:solidFill>
              <a:srgbClr val="B5493A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4522B97A-E408-46C3-A269-80F05BF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CA31E65C-A5CA-4C72-B3AB-1382579C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11430">
            <a:solidFill>
              <a:srgbClr val="B5493A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Manual searching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82537EBA-EF1A-40C2-B01E-B88F6E15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5075F227-5CD6-4942-B7BE-4A69B7A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11430">
            <a:solidFill>
              <a:srgbClr val="B5493A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Technical interpretation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40A0E159-F44B-4B5C-97AA-0BF5292E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F772BF40-572A-4323-9CE2-C590ADB3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11430">
            <a:solidFill>
              <a:srgbClr val="B5493A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Standards verification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1BBA3AF-7FD5-495E-98F5-9D3389D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26A9D7B9-4CE9-42C1-8058-D23CBE00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11430">
            <a:solidFill>
              <a:srgbClr val="B5493A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78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4C7D27EF-1E93-4351-8FF2-C151660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88DC9181-8A62-4CB6-AEC8-A17B83FB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47D83978-F644-40D7-B304-1972AE75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Clause analysis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6CB597A1-8A13-4E9D-8584-14CF722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3829E58F-29D7-4115-A768-1267F280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Ranked standards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35481D81-47AC-46B4-B3F7-C5FEE918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7D326D6E-B5B7-4143-83DF-4A94ED74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Evidence + human verification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F77EB5F4-EB04-4534-8E87-F53FFDC1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52700"/>
            <a:ext cx="952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497D"/>
          </a:solidFill>
          <a:ln xmlns:a="http://schemas.openxmlformats.org/drawingml/2006/main" w="0">
            <a:noFill/>
          </a:ln>
        </p:spPr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0A5F09FB-C757-409C-AE26-235824DF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238375"/>
            <a:ext cx="914400" cy="8001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4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PDF / CSV report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96CDA134-8490-414E-B92F-595AC3D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333750" cy="2286000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853B73E9-00F3-4BEA-B686-DDAF013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48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SOCIAL / GOVERNANCE</a:t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CC157927-1F5A-4FFC-A46F-47D7D46E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719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More consistent standards discovery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Traceable evidence and decisions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Recommendations remain human-verifiable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18E74061-0A66-47AD-BE0D-B7BB2B18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2286000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FF69B06C-9177-4A88-9993-126A94B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48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ECONOMIC / OPERATIONAL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3703880B-FF89-49D1-9C6F-819A16E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Faster initial standards discovery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Less repetitive manual searching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Structured review and report workflow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329AAC86-A85E-4479-B561-DC92F744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3333750" cy="2286000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90F13F80-428E-4A66-A526-40028521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480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AF2C3AED-4725-40E6-B1A8-4E04F6C6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719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Semantic and lexical retrieval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Clause-level explainable evidence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900"/>
              </a:spcAft>
              <a:buNone/>
              <a:defRPr sz="1088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202B38"/>
                </a:solidFill>
                <a:latin typeface="Arial"/>
                <a:ea typeface="Arial"/>
                <a:cs typeface="Arial"/>
              </a:rPr>
              <a:t>Extensible catalogue with audit history</a:t>
            </a:r>
          </a:p>
        </p:txBody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E5BB3792-2EB0-4FFA-BAA4-F7AAA3CF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67400"/>
            <a:ext cx="788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5B6877"/>
                </a:solidFill>
                <a:latin typeface="Arial"/>
                <a:ea typeface="Arial"/>
                <a:cs typeface="Arial"/>
              </a:rPr>
              <a:t>Expected benefit: stronger decision support and traceability. Compliance and savings are not guaranteed.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BD46D6A-9272-44F4-BAE3-22F0F1088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855903-A7DB-49EA-BA6B-9FC0652D3B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08A2484-AEAC-48A0-B503-526D01830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[TEAM NAME]</a:t>
            </a:r>
            <a:endParaRPr/>
          </a:p>
        </p:txBody>
      </p:sp>
      <p:pic>
        <p:nvPicPr>
          <p:cNvPr id="1745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c2c86d23a4d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3230937E-7263-47EB-8667-06201C16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5429250" cy="4000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F75B5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87834382-2AEC-4025-95B7-F12C0AE7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99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EXTERNAL REFERENCES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05616C2D-E658-4D92-9BB5-8A31C5D9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91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32F7633-AEFD-4D22-8A19-FE59F42D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Bureau of Indian Standards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FF6F8AF-4AC5-48EF-9250-B0BAF6E1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9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63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bis.gov.in/know-your-standard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A3F48FE-0B8E-457C-AD28-51CA41CC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FD8D48E6-4105-4328-8D80-F4D228F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Sentence Transformers and all-MiniLM-L6-v2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2B319B25-364B-42FC-A348-09FD27E2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05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63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sbert.net/docs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EC531851-DF87-4BD6-9DFA-21943E3F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D66D38AC-69F7-4864-8D11-99FDA6E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FastAPI documentation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D690C5C6-B41A-4B1A-8541-7D43E7F2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0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63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fastapi.tiangolo.com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9BFFE8D1-F7CB-4C80-BAEA-31A72B1A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9C16E496-E0FF-4180-B682-D52D5A79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Python documentation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E6C09B16-520F-42AE-BD7C-1638FB86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63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docs.python.org/3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590B869D-D9CC-4E4D-A91B-5BA26BC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EFE84401-EE4D-4E90-859E-A5825C63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SQLite documentation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FB4D068B-0213-4757-B2FF-23C7E5F2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90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63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sqlite.org/docs.html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117A4869-0CDD-46D1-87C8-66C9C843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C94A3A9D-3403-4DBB-97FB-74817AC4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B38"/>
                </a:solidFill>
                <a:latin typeface="Arial"/>
                <a:ea typeface="Arial"/>
                <a:cs typeface="Arial"/>
              </a:rPr>
              <a:t>Docker documentation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1C3707A4-8807-4E4E-A80A-0D5A15D7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86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63" b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2F75B5"/>
                </a:solidFill>
                <a:latin typeface="Arial"/>
                <a:ea typeface="Arial"/>
                <a:cs typeface="Arial"/>
              </a:rPr>
              <a:t>docs.docker.com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86A18B9D-9BE7-42A2-982A-C0695925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57300"/>
            <a:ext cx="5429250" cy="4000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F6E00863-75D3-4CD4-B678-CC39D1DC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38275"/>
            <a:ext cx="4991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PROJECT RESEARCH / EVALUATION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B347C962-D994-4A7A-8E35-33C7CBCC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91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</a:ln>
        </p:spPr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D0CCDB16-6A37-4708-BD56-8241F48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148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14300">
              <a:lnSpc>
                <a:spcPct val="105000"/>
              </a:lnSpc>
              <a:spcAft>
                <a:spcPts val="1000"/>
              </a:spcAft>
              <a:buNone/>
              <a:defRPr sz="114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202B38"/>
                </a:solidFill>
                <a:latin typeface="Arial"/>
                <a:ea typeface="Arial"/>
                <a:cs typeface="Arial"/>
              </a:rPr>
              <a:t>250-record Indian Standards seed catalogue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1000"/>
              </a:spcAft>
              <a:buNone/>
              <a:defRPr sz="114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202B38"/>
                </a:solidFill>
                <a:latin typeface="Arial"/>
                <a:ea typeface="Arial"/>
                <a:cs typeface="Arial"/>
              </a:rPr>
              <a:t>3,750 synthetic / controlled procurement-query examples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1000"/>
              </a:spcAft>
              <a:buNone/>
              <a:defRPr sz="114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202B38"/>
                </a:solidFill>
                <a:latin typeface="Arial"/>
                <a:ea typeface="Arial"/>
                <a:cs typeface="Arial"/>
              </a:rPr>
              <a:t>Fixed train, validation, and held-out test splits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1000"/>
              </a:spcAft>
              <a:buNone/>
              <a:defRPr sz="114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202B38"/>
                </a:solidFill>
                <a:latin typeface="Arial"/>
                <a:ea typeface="Arial"/>
                <a:cs typeface="Arial"/>
              </a:rPr>
              <a:t>Controlled held-out retrieval evaluation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1000"/>
              </a:spcAft>
              <a:buNone/>
              <a:defRPr sz="114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202B38"/>
                </a:solidFill>
                <a:latin typeface="Arial"/>
                <a:ea typeface="Arial"/>
                <a:cs typeface="Arial"/>
              </a:rPr>
              <a:t>35-test automated prototype suite</a:t>
            </a:r>
          </a:p>
          <a:p xmlns:a="http://schemas.openxmlformats.org/drawingml/2006/main">
            <a:pPr marL="203200" indent="-114300">
              <a:lnSpc>
                <a:spcPct val="105000"/>
              </a:lnSpc>
              <a:spcAft>
                <a:spcPts val="1000"/>
              </a:spcAft>
              <a:buNone/>
              <a:defRPr sz="1140">
                <a:solidFill>
                  <a:srgbClr val="202B38"/>
                </a:solidFill>
                <a:latin typeface="Arial"/>
                <a:ea typeface="Arial"/>
                <a:cs typeface="Arial"/>
              </a:defRPr>
            </a:pPr>
            <a:r>
              <a:rPr sz="1140">
                <a:solidFill>
                  <a:srgbClr val="202B38"/>
                </a:solidFill>
                <a:latin typeface="Arial"/>
                <a:ea typeface="Arial"/>
                <a:cs typeface="Arial"/>
              </a:rPr>
              <a:t>Verification queue, audit history, and reviewer labels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93B01131-CFDD-49CD-88F5-1E859133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Scope disclosure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AD5A28C5-4C80-4075-A4BB-0953C7EA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29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2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The catalogue is not fully officially verified. Controlled metrics do not represent general real-world tender accuracy.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1C5832F6-AD97-4F0D-9275-D14337A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4975"/>
            <a:ext cx="247650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Controlled / synthetic held-out results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3DFDAFF1-FBFE-41F2-A0DA-04F7CBE8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142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7B393766-A92B-44B8-81D8-907DD755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4578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F497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497D"/>
                </a:solidFill>
                <a:latin typeface="Arial"/>
                <a:ea typeface="Arial"/>
                <a:cs typeface="Arial"/>
              </a:rPr>
              <a:t>91.5%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51F5F75E-E356-44FE-A1AC-4B012D74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7626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6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Top-1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37664807-C25C-45FF-AA12-2477F729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91150"/>
            <a:ext cx="142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11430">
            <a:solidFill>
              <a:srgbClr val="198754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B0613BEB-9208-47FA-B5D5-0CC3D98D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578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987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8754"/>
                </a:solidFill>
                <a:latin typeface="Arial"/>
                <a:ea typeface="Arial"/>
                <a:cs typeface="Arial"/>
              </a:rPr>
              <a:t>97.3%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0CEB1452-B423-441C-98F6-AAD8F7A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7626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6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Top-5</a:t>
            </a:r>
          </a:p>
        </p:txBody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3376E882-C2CB-45C2-A829-E3321AFF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14287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1430">
            <a:solidFill>
              <a:srgbClr val="F28C28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F7A74E5E-2449-4A7B-B30F-0742B2EA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578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0.943</a:t>
            </a:r>
          </a:p>
        </p:txBody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418443E8-AC40-4766-9A43-66D58D35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762625"/>
            <a:ext cx="129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63" b="0">
                <a:solidFill>
                  <a:srgbClr val="5B68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B6877"/>
                </a:solidFill>
                <a:latin typeface="Arial"/>
                <a:ea typeface="Arial"/>
                <a:cs typeface="Arial"/>
              </a:rPr>
              <a:t>MRR</a:t>
            </a:r>
          </a:p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F00D2591-9A77-4A61-BD2A-7AE75D67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14975"/>
            <a:ext cx="25717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11430">
            <a:solidFill>
              <a:srgbClr val="B5493A"/>
            </a:solidFill>
            <a:prstDash val="solid"/>
          </a:ln>
        </p:spPr>
        <p:txBody>
          <a:bodyPr xmlns:a="http://schemas.openxmlformats.org/drawingml/2006/main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1">
                <a:solidFill>
                  <a:srgbClr val="B5493A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B5493A"/>
                </a:solidFill>
                <a:latin typeface="Arial"/>
                <a:ea typeface="Arial"/>
                <a:cs typeface="Arial"/>
              </a:rPr>
              <a:t>Human review remains mandatory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2026-09-30T08:13:04.2810000Z</dcterms:created>
  <dcterms:modified xsi:type="dcterms:W3CDTF">2026-09-30T08:13:04.2810000Z</dcterms:modified>
</coreProperties>
</file>